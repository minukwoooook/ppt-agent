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4048"/>
            <a:ext cx="758952" cy="0"/>
          </a:xfrm>
          <a:prstGeom prst="line">
            <a:avLst/>
          </a:prstGeom>
          <a:noFill/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4048"/>
            <a:ext cx="0" cy="758952"/>
          </a:xfrm>
          <a:prstGeom prst="line">
            <a:avLst/>
          </a:prstGeom>
          <a:noFill/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27848" y="4754880"/>
            <a:ext cx="758952" cy="0"/>
          </a:xfrm>
          <a:prstGeom prst="line">
            <a:avLst/>
          </a:prstGeom>
          <a:noFill/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3995928"/>
            <a:ext cx="0" cy="758952"/>
          </a:xfrm>
          <a:prstGeom prst="line">
            <a:avLst/>
          </a:prstGeom>
          <a:noFill/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" y="822960"/>
            <a:ext cx="2468880" cy="256032"/>
          </a:xfrm>
          <a:prstGeom prst="rect">
            <a:avLst/>
          </a:prstGeom>
          <a:solidFill>
            <a:srgbClr val="0A1828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822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/ 자동화 활용 사례 공유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8952" y="118872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설계팀의
</a:t>
            </a:r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Hardware Debugging
</a:t>
            </a:r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 자동화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58952" y="3200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데이터 자산 + 도메인 이해 + 단순한 도구 = 전문가의 반복 작업 제거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58952" y="3657600"/>
            <a:ext cx="3200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3794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8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3977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설계팀 SW 담당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17520" y="3794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8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DURATION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17520" y="3977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3794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8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0" y="3977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70048" cy="5143500"/>
          </a:xfrm>
          <a:prstGeom prst="rect">
            <a:avLst/>
          </a:prstGeom>
          <a:solidFill>
            <a:srgbClr val="0D1A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822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TODAY'S STORY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" y="1051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이야기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2057400"/>
            <a:ext cx="384048" cy="27432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발굴부터 솔루션까지,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당신 팀에서의 적용까지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80360" y="411480"/>
            <a:ext cx="5943600" cy="914400"/>
          </a:xfrm>
          <a:prstGeom prst="rect">
            <a:avLst/>
          </a:prstGeom>
          <a:solidFill>
            <a:srgbClr val="0A1830"/>
          </a:solidFill>
          <a:ln w="6350">
            <a:solidFill>
              <a:srgbClr val="1A4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44952" y="640080"/>
            <a:ext cx="411480" cy="411480"/>
          </a:xfrm>
          <a:prstGeom prst="ellipse">
            <a:avLst/>
          </a:prstGeom>
          <a:solidFill>
            <a:srgbClr val="112233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640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5212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HW 디버깅 병목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85039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칩이 나왔다. 버그가 있다. 담당자 의존 구조의 병목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508760"/>
            <a:ext cx="5943600" cy="914400"/>
          </a:xfrm>
          <a:prstGeom prst="rect">
            <a:avLst/>
          </a:prstGeom>
          <a:solidFill>
            <a:srgbClr val="0A12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4952" y="1737360"/>
            <a:ext cx="411480" cy="41148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952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16184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준비: 데이터 자산화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194767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이전에 쌓아온 인프라의 가치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606040"/>
            <a:ext cx="5943600" cy="914400"/>
          </a:xfrm>
          <a:prstGeom prst="rect">
            <a:avLst/>
          </a:prstGeom>
          <a:solidFill>
            <a:srgbClr val="0A12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44952" y="2834640"/>
            <a:ext cx="411480" cy="41148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952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7157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솔루션: 무엇을 만들었나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30449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+ 라이브 데모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80360" y="3703320"/>
            <a:ext cx="5943600" cy="914400"/>
          </a:xfrm>
          <a:prstGeom prst="rect">
            <a:avLst/>
          </a:prstGeom>
          <a:solidFill>
            <a:srgbClr val="0A12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44952" y="3931920"/>
            <a:ext cx="411480" cy="41148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38130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프레임워크: 당신 팀에서도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41422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기회를 발굴하는 3가지 질문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문제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 디버깅이란 무엇인가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0352" y="9144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칩이 처음 나왔다. 6개월, 수백억 원.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버그가 있다. 어디서, 왜 발생했는지 찾아야 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1188720" cy="777240"/>
          </a:xfrm>
          <a:prstGeom prst="rect">
            <a:avLst/>
          </a:prstGeom>
          <a:solidFill>
            <a:srgbClr val="0A1F3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버그 발생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Silicon 동작 이상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1943100"/>
            <a:ext cx="320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8333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554480"/>
            <a:ext cx="1188720" cy="777240"/>
          </a:xfrm>
          <a:prstGeom prst="rect">
            <a:avLst/>
          </a:prstGeom>
          <a:solidFill>
            <a:srgbClr val="0A1F3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627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029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Scandump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칩 상태 덤프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11880" y="1943100"/>
            <a:ext cx="320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8333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1554480"/>
            <a:ext cx="1188720" cy="777240"/>
          </a:xfrm>
          <a:prstGeom prst="rect">
            <a:avLst/>
          </a:prstGeom>
          <a:solidFill>
            <a:srgbClr val="0F1A3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627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77640" y="2029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생성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77640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 MB 레지스터 파일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12080" y="1943100"/>
            <a:ext cx="320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8333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1554480"/>
            <a:ext cx="1188720" cy="777240"/>
          </a:xfrm>
          <a:prstGeom prst="rect">
            <a:avLst/>
          </a:prstGeom>
          <a:solidFill>
            <a:srgbClr val="1C0A24"/>
          </a:solidFill>
          <a:ln w="10160">
            <a:solidFill>
              <a:srgbClr val="4A1A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627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77840" y="2029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분석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전문가가 직접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1943100"/>
            <a:ext cx="320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18333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78040" y="1554480"/>
            <a:ext cx="1188720" cy="777240"/>
          </a:xfrm>
          <a:prstGeom prst="rect">
            <a:avLst/>
          </a:prstGeom>
          <a:solidFill>
            <a:srgbClr val="0A2418"/>
          </a:solidFill>
          <a:ln w="10160">
            <a:solidFill>
              <a:srgbClr val="1A5A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627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78040" y="2029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파악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디버깅 완료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0352" y="2788920"/>
            <a:ext cx="8083296" cy="594360"/>
          </a:xfrm>
          <a:prstGeom prst="rect">
            <a:avLst/>
          </a:prstGeom>
          <a:solidFill>
            <a:srgbClr val="FF4A4A">
              <a:alpha val="6000"/>
            </a:srgbClr>
          </a:solidFill>
          <a:ln w="6350">
            <a:solidFill>
              <a:srgbClr val="FF4A4A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280720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 담당자가 각자 보유한 스크립트로 분석해야 한다.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그런데 이슈가 담당자에게 할당되어야 비로소 분석이 시작된다. 이 구조가 병목이다.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문제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29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디버깅 병목: 담당자 의존 구조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0" y="868680"/>
            <a:ext cx="0" cy="411480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961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 BEFORE — 기존 구조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4572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61872"/>
            <a:ext cx="3931920" cy="685800"/>
          </a:xfrm>
          <a:prstGeom prst="rect">
            <a:avLst/>
          </a:prstGeom>
          <a:solidFill>
            <a:srgbClr val="0A12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33502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발생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819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버그가 리포트된다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35708" y="1947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4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2130552"/>
            <a:ext cx="45720" cy="685800"/>
          </a:xfrm>
          <a:prstGeom prst="rect">
            <a:avLst/>
          </a:prstGeom>
          <a:solidFill>
            <a:srgbClr val="FF4A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2130552"/>
            <a:ext cx="3931920" cy="685800"/>
          </a:xfrm>
          <a:prstGeom prst="rect">
            <a:avLst/>
          </a:prstGeom>
          <a:solidFill>
            <a:srgbClr val="1A0808"/>
          </a:solidFill>
          <a:ln w="6350">
            <a:solidFill>
              <a:srgbClr val="5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🔎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20370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찾기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450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블록 담당자에게 할당해야 하나?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01568" y="2313432"/>
            <a:ext cx="804672" cy="256032"/>
          </a:xfrm>
          <a:prstGeom prst="rect">
            <a:avLst/>
          </a:prstGeom>
          <a:solidFill>
            <a:srgbClr val="FF4A4A">
              <a:alpha val="9000"/>
            </a:srgbClr>
          </a:solidFill>
          <a:ln w="6350">
            <a:solidFill>
              <a:srgbClr val="FF4A4A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3134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 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35708" y="28163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4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" y="2999232"/>
            <a:ext cx="45720" cy="685800"/>
          </a:xfrm>
          <a:prstGeom prst="rect">
            <a:avLst/>
          </a:prstGeom>
          <a:solidFill>
            <a:srgbClr val="FF4A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2999232"/>
            <a:ext cx="3931920" cy="685800"/>
          </a:xfrm>
          <a:prstGeom prst="rect">
            <a:avLst/>
          </a:prstGeom>
          <a:solidFill>
            <a:srgbClr val="1A0808"/>
          </a:solidFill>
          <a:ln w="6350">
            <a:solidFill>
              <a:srgbClr val="5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⏳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07238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대기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319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시간 내야 분석 시작 가능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01568" y="3182112"/>
            <a:ext cx="804672" cy="256032"/>
          </a:xfrm>
          <a:prstGeom prst="rect">
            <a:avLst/>
          </a:prstGeom>
          <a:solidFill>
            <a:srgbClr val="FF4A4A">
              <a:alpha val="9000"/>
            </a:srgbClr>
          </a:solidFill>
          <a:ln w="6350">
            <a:solidFill>
              <a:srgbClr val="FF4A4A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31821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 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35708" y="3685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4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84048" y="3867912"/>
            <a:ext cx="4572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" y="3867912"/>
            <a:ext cx="3931920" cy="685800"/>
          </a:xfrm>
          <a:prstGeom prst="rect">
            <a:avLst/>
          </a:prstGeom>
          <a:solidFill>
            <a:srgbClr val="0A12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📜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394106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스크립트 실행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1879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담당자마다 다른 스크립트 보유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8961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 AFTER — 자동화 시스템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261872"/>
            <a:ext cx="4023360" cy="685800"/>
          </a:xfrm>
          <a:prstGeom prst="rect">
            <a:avLst/>
          </a:prstGeom>
          <a:solidFill>
            <a:srgbClr val="0A12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316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🐛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57800" y="131673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발생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15636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버그가 리포트된다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29400" y="1947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2148840"/>
            <a:ext cx="4023360" cy="804672"/>
          </a:xfrm>
          <a:prstGeom prst="rect">
            <a:avLst/>
          </a:prstGeom>
          <a:solidFill>
            <a:srgbClr val="001E14"/>
          </a:solidFill>
          <a:ln w="1270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203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🖥️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5376672" y="2203704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UI에서 바로 확인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76672" y="2496312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할당 없이 누구나 즉시 분석 결과 열람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127248"/>
            <a:ext cx="4023360" cy="1463040"/>
          </a:xfrm>
          <a:prstGeom prst="rect">
            <a:avLst/>
          </a:prstGeom>
          <a:solidFill>
            <a:srgbClr val="001A14"/>
          </a:solidFill>
          <a:ln w="1905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2735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누구나 · 즉시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4937760" y="39136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담당자를 찾고 대기하는 과정 없이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발생 즉시 분석 결과 확인 가능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722376"/>
          </a:xfrm>
          <a:prstGeom prst="rect">
            <a:avLst/>
          </a:prstGeom>
          <a:solidFill>
            <a:srgbClr val="1A130A"/>
          </a:solidFill>
          <a:ln w="6350">
            <a:solidFill>
              <a:srgbClr val="3A2A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자산화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전제조건: Spec 데이터 자산화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" y="8961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시스템이 가능했던 이유는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설계팀 Spec 데이터를 미리 DB로 자산화해두었기 때문이다.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45720" cy="896112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2768"/>
            <a:ext cx="4206240" cy="896112"/>
          </a:xfrm>
          <a:prstGeom prst="rect">
            <a:avLst/>
          </a:prstGeom>
          <a:solidFill>
            <a:srgbClr val="0A12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824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🗄️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16459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C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데이터 DB 구축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90195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레지스터 명세, 필드 정의, 기대값을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구조화된 DB로 축적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651760"/>
            <a:ext cx="45720" cy="896112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4206240" cy="896112"/>
          </a:xfrm>
          <a:prstGeom prst="rect">
            <a:avLst/>
          </a:prstGeom>
          <a:solidFill>
            <a:srgbClr val="0A12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7614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⏳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27249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C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당시엔 활용처가 불명확했다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98094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쓸 곳은 없었지만,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꾸준히 쌓아왔다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730752"/>
            <a:ext cx="45720" cy="896112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30752"/>
            <a:ext cx="4206240" cy="896112"/>
          </a:xfrm>
          <a:prstGeom prst="rect">
            <a:avLst/>
          </a:prstGeom>
          <a:solidFill>
            <a:srgbClr val="0A12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840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8039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C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자산이 없었다면 불가능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40599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Regbank와 대조할 기준 데이터가 없으면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자체가 성립하지 않는다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914400"/>
            <a:ext cx="3840480" cy="1508760"/>
          </a:xfrm>
          <a:prstGeom prst="rect">
            <a:avLst/>
          </a:prstGeom>
          <a:solidFill>
            <a:srgbClr val="1A1200"/>
          </a:solidFill>
          <a:ln w="10160">
            <a:solidFill>
              <a:srgbClr val="FFB800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005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 핵심 인사이트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129844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0A8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당장 쓸모없어 보이는 데이터 수집이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0A8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미래의 자동화 가능성을 결정한다.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0A8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Agent / 자동화를 원한다면,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0A8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데이터를 자산화해야 한다.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560320"/>
            <a:ext cx="3840480" cy="1005840"/>
          </a:xfrm>
          <a:prstGeom prst="rect">
            <a:avLst/>
          </a:prstGeom>
          <a:solidFill>
            <a:srgbClr val="0A0F1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6517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DB + REGBANK 연결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74920" y="288036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DB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321868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기대값/필드 정의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24728" y="288036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74536" y="288036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74536" y="321868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덤프 데이터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324344" y="288036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74152" y="2880360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74152" y="321868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가능성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937760" y="3703320"/>
            <a:ext cx="3840480" cy="1005840"/>
          </a:xfrm>
          <a:prstGeom prst="rect">
            <a:avLst/>
          </a:prstGeom>
          <a:solidFill>
            <a:srgbClr val="0A12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82219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 팀은 Regbank를 항상 생성하고 있었다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두 자산을 연결하는 것이 이번 시스템의 핵심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/ 자동화의 전제조건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777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자동화에 꼭 </a:t>
            </a:r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AI/ML이
</a:t>
            </a:r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필요하지 않다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2331720"/>
            <a:ext cx="1371600" cy="685800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331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데이터 자산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06040" y="23317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2331720"/>
            <a:ext cx="1188720" cy="685800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331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이해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43400" y="23317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2331720"/>
            <a:ext cx="1188720" cy="685800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331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도구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23317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2331720"/>
            <a:ext cx="1554480" cy="685800"/>
          </a:xfrm>
          <a:prstGeom prst="rect">
            <a:avLst/>
          </a:prstGeom>
          <a:solidFill>
            <a:srgbClr val="002233"/>
          </a:solidFill>
          <a:ln w="6350">
            <a:solidFill>
              <a:srgbClr val="0066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31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전문가의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 제거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solidFill>
            <a:srgbClr val="1A0A0A"/>
          </a:solidFill>
          <a:ln w="6350">
            <a:solidFill>
              <a:srgbClr val="3A1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 데이터가 없으면 LLM도, 파싱도, 어떤 자동화도 할 수 없다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23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자산화 → 자동화 가능성의 전제조건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91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자산화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291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자산의 연결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103120" cy="2286000"/>
          </a:xfrm>
          <a:prstGeom prst="rect">
            <a:avLst/>
          </a:prstGeom>
          <a:solidFill>
            <a:srgbClr val="0A1525"/>
          </a:solidFill>
          <a:ln w="12700">
            <a:solidFill>
              <a:srgbClr val="FFB800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🗄️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DB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자산화된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레지스터 명세 데이터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기대값, 필드 정의 포함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2377440"/>
            <a:ext cx="548640" cy="0"/>
          </a:xfrm>
          <a:prstGeom prst="line">
            <a:avLst/>
          </a:prstGeom>
          <a:noFill/>
          <a:ln w="1905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240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86200" y="2377440"/>
            <a:ext cx="548640" cy="0"/>
          </a:xfrm>
          <a:prstGeom prst="line">
            <a:avLst/>
          </a:prstGeom>
          <a:noFill/>
          <a:ln w="1905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1234440"/>
            <a:ext cx="2103120" cy="2286000"/>
          </a:xfrm>
          <a:prstGeom prst="rect">
            <a:avLst/>
          </a:prstGeom>
          <a:solidFill>
            <a:srgbClr val="0A1525"/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508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📄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462272" y="2075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07992" y="2423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디버그 세션마다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 팀이 항상 생성하는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레지스터 덤프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01968" y="2377440"/>
            <a:ext cx="274320" cy="0"/>
          </a:xfrm>
          <a:prstGeom prst="line">
            <a:avLst/>
          </a:prstGeom>
          <a:noFill/>
          <a:ln w="19050">
            <a:solidFill>
              <a:srgbClr val="00FFD1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2240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1234440"/>
            <a:ext cx="1645920" cy="2286000"/>
          </a:xfrm>
          <a:prstGeom prst="rect">
            <a:avLst/>
          </a:prstGeom>
          <a:solidFill>
            <a:srgbClr val="001A1A"/>
          </a:solidFill>
          <a:ln w="1905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32320" y="2103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2697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자산을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연결하면 수동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분석을 자동화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 수 있다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 팀은 Regbank를  항상 생성하고 있었다  —  연결만 하면 됐다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91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솔루션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" y="3291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아키텍처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9144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0" y="914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92240" y="9144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OUTPUT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161288"/>
            <a:ext cx="2286000" cy="868680"/>
          </a:xfrm>
          <a:prstGeom prst="rect">
            <a:avLst/>
          </a:prstGeom>
          <a:solidFill>
            <a:srgbClr val="0A1525"/>
          </a:solidFill>
          <a:ln w="10160">
            <a:solidFill>
              <a:srgbClr val="FFB800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🗄️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12252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Data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레지스터 명세 / 기대값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148840"/>
            <a:ext cx="2286000" cy="868680"/>
          </a:xfrm>
          <a:prstGeom prst="rect">
            <a:avLst/>
          </a:prstGeom>
          <a:solidFill>
            <a:srgbClr val="0A1525"/>
          </a:solidFill>
          <a:ln w="1016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194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22128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4505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이슈별 Regbank 보관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79776" y="2103120"/>
            <a:ext cx="658368" cy="0"/>
          </a:xfrm>
          <a:prstGeom prst="line">
            <a:avLst/>
          </a:prstGeom>
          <a:noFill/>
          <a:ln w="190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19385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파싱 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74720" y="1161288"/>
            <a:ext cx="2286000" cy="1920240"/>
          </a:xfrm>
          <a:prstGeom prst="rect">
            <a:avLst/>
          </a:prstGeom>
          <a:solidFill>
            <a:srgbClr val="0A1F3A"/>
          </a:solidFill>
          <a:ln w="1905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520440" y="1783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파싱 / 분석 엔진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208483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파싱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Spec과 대조 분석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이상값 / 정상값 분류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97296" y="2103120"/>
            <a:ext cx="658368" cy="0"/>
          </a:xfrm>
          <a:prstGeom prst="line">
            <a:avLst/>
          </a:prstGeom>
          <a:noFill/>
          <a:ln w="19050">
            <a:solidFill>
              <a:srgbClr val="00FFD1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9385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▶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92240" y="1161288"/>
            <a:ext cx="2194560" cy="1920240"/>
          </a:xfrm>
          <a:prstGeom prst="rect">
            <a:avLst/>
          </a:prstGeom>
          <a:solidFill>
            <a:srgbClr val="0A2A1A"/>
          </a:solidFill>
          <a:ln w="1905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🖥️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53796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UI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37960" y="20848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 시각화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누구나 즉시 확인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이상값 하이라이트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복잡도는 최소화 — 결과물의 가치에 집중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594360"/>
            <a:ext cx="2743200" cy="347472"/>
          </a:xfrm>
          <a:prstGeom prst="rect">
            <a:avLst/>
          </a:prstGeom>
          <a:solidFill>
            <a:srgbClr val="00FFD1">
              <a:alpha val="9000"/>
            </a:srgbClr>
          </a:solidFill>
          <a:ln w="1016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01568" y="704088"/>
            <a:ext cx="137160" cy="137160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84448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보여드리겠습니다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파일  →  분석 엔진  →  Web UI 결과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2487168"/>
            <a:ext cx="457200" cy="45720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358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파일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4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2487168"/>
            <a:ext cx="457200" cy="45720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30358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과정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4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4960" y="2487168"/>
            <a:ext cx="457200" cy="45720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0358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UI 결과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4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98080" y="2487168"/>
            <a:ext cx="457200" cy="45720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30358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대비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비교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64592"/>
            <a:ext cx="960120" cy="347472"/>
          </a:xfrm>
          <a:prstGeom prst="rect">
            <a:avLst/>
          </a:prstGeom>
          <a:solidFill>
            <a:srgbClr val="00FFD1">
              <a:alpha val="9000"/>
            </a:srgbClr>
          </a:solidFill>
          <a:ln w="6350">
            <a:solidFill>
              <a:srgbClr val="00FFD1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274320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73736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63040" y="182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 하이라이트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4048" y="804672"/>
            <a:ext cx="5760720" cy="4069080"/>
          </a:xfrm>
          <a:prstGeom prst="rect">
            <a:avLst/>
          </a:prstGeom>
          <a:solidFill>
            <a:srgbClr val="0A122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804672"/>
            <a:ext cx="5760720" cy="347472"/>
          </a:xfrm>
          <a:prstGeom prst="rect">
            <a:avLst/>
          </a:prstGeom>
          <a:solidFill>
            <a:srgbClr val="0D1A30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905256"/>
            <a:ext cx="128016" cy="128016"/>
          </a:xfrm>
          <a:prstGeom prst="ellipse">
            <a:avLst/>
          </a:prstGeom>
          <a:solidFill>
            <a:srgbClr val="FF5F56"/>
          </a:solidFill>
          <a:ln w="635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905256"/>
            <a:ext cx="128016" cy="128016"/>
          </a:xfrm>
          <a:prstGeom prst="ellipse">
            <a:avLst/>
          </a:prstGeom>
          <a:solidFill>
            <a:srgbClr val="FEBC2E"/>
          </a:solidFill>
          <a:ln w="635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905256"/>
            <a:ext cx="128016" cy="128016"/>
          </a:xfrm>
          <a:prstGeom prst="ellipse">
            <a:avLst/>
          </a:prstGeom>
          <a:solidFill>
            <a:srgbClr val="28C840"/>
          </a:solidFill>
          <a:ln w="635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85953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 Debugging Analysis — Regbank Viewer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" y="1280160"/>
            <a:ext cx="5577840" cy="566928"/>
          </a:xfrm>
          <a:prstGeom prst="rect">
            <a:avLst/>
          </a:prstGeom>
          <a:solidFill>
            <a:srgbClr val="0D1A2A"/>
          </a:solidFill>
          <a:ln w="3810">
            <a:solidFill>
              <a:srgbClr val="1A2E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1280160"/>
            <a:ext cx="50292" cy="566928"/>
          </a:xfrm>
          <a:prstGeom prst="rect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3533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SYS_CTRL_REG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157276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0x0000_0001  →  Expected: 0x0000_0001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38928" y="1426464"/>
            <a:ext cx="804672" cy="256032"/>
          </a:xfrm>
          <a:prstGeom prst="rect">
            <a:avLst/>
          </a:prstGeom>
          <a:solidFill>
            <a:srgbClr val="0D1A2A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4264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NORMAL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" y="1947672"/>
            <a:ext cx="5577840" cy="566928"/>
          </a:xfrm>
          <a:prstGeom prst="rect">
            <a:avLst/>
          </a:prstGeom>
          <a:solidFill>
            <a:srgbClr val="0D1A2A"/>
          </a:solidFill>
          <a:ln w="3810">
            <a:solidFill>
              <a:srgbClr val="1A2E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1947672"/>
            <a:ext cx="50292" cy="566928"/>
          </a:xfrm>
          <a:prstGeom prst="rect">
            <a:avLst/>
          </a:prstGeom>
          <a:solidFill>
            <a:srgbClr val="FF4A4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020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PWR_STATE_REG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224028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0x0000_00FF  →  Expected: 0x0000_0000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38928" y="2093976"/>
            <a:ext cx="804672" cy="256032"/>
          </a:xfrm>
          <a:prstGeom prst="rect">
            <a:avLst/>
          </a:prstGeom>
          <a:solidFill>
            <a:srgbClr val="0D1A2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09397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" y="2615184"/>
            <a:ext cx="5577840" cy="566928"/>
          </a:xfrm>
          <a:prstGeom prst="rect">
            <a:avLst/>
          </a:prstGeom>
          <a:solidFill>
            <a:srgbClr val="0D1A2A"/>
          </a:solidFill>
          <a:ln w="3810">
            <a:solidFill>
              <a:srgbClr val="1A2E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2615184"/>
            <a:ext cx="50292" cy="566928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6883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CLK_DOMAIN_REG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290779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0x0000_0003  →  Expected: 0x0000_0001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38928" y="2761488"/>
            <a:ext cx="804672" cy="256032"/>
          </a:xfrm>
          <a:prstGeom prst="rect">
            <a:avLst/>
          </a:prstGeom>
          <a:solidFill>
            <a:srgbClr val="0D1A2A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27614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WARN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" y="3282696"/>
            <a:ext cx="5577840" cy="566928"/>
          </a:xfrm>
          <a:prstGeom prst="rect">
            <a:avLst/>
          </a:prstGeom>
          <a:solidFill>
            <a:srgbClr val="0D1A2A"/>
          </a:solidFill>
          <a:ln w="3810">
            <a:solidFill>
              <a:srgbClr val="1A2E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3282696"/>
            <a:ext cx="50292" cy="566928"/>
          </a:xfrm>
          <a:prstGeom prst="rect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355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INT_STATUS_REG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" y="357530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0x0000_0000  →  Expected: 0x0000_0000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38928" y="3429000"/>
            <a:ext cx="804672" cy="256032"/>
          </a:xfrm>
          <a:prstGeom prst="rect">
            <a:avLst/>
          </a:prstGeom>
          <a:solidFill>
            <a:srgbClr val="0D1A2A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34290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NORMAL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" y="3950208"/>
            <a:ext cx="5577840" cy="566928"/>
          </a:xfrm>
          <a:prstGeom prst="rect">
            <a:avLst/>
          </a:prstGeom>
          <a:solidFill>
            <a:srgbClr val="0D1A2A"/>
          </a:solidFill>
          <a:ln w="3810">
            <a:solidFill>
              <a:srgbClr val="1A2E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" y="3950208"/>
            <a:ext cx="50292" cy="566928"/>
          </a:xfrm>
          <a:prstGeom prst="rect">
            <a:avLst/>
          </a:prstGeom>
          <a:solidFill>
            <a:srgbClr val="FF4A4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023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MEM_CTRL_REG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" y="424281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0x0000_DEAD  →  Expected: 0x0000_0001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38928" y="4096512"/>
            <a:ext cx="804672" cy="256032"/>
          </a:xfrm>
          <a:prstGeom prst="rect">
            <a:avLst/>
          </a:prstGeom>
          <a:solidFill>
            <a:srgbClr val="0D1A2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8928" y="40965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0" y="804672"/>
            <a:ext cx="2359152" cy="1188720"/>
          </a:xfrm>
          <a:prstGeom prst="rect">
            <a:avLst/>
          </a:prstGeom>
          <a:solidFill>
            <a:srgbClr val="0A15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896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492240" y="1188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즉각적 결과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14264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업로드 즉시 분석 완료. 수동 검토 없음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2176272"/>
            <a:ext cx="2359152" cy="1188720"/>
          </a:xfrm>
          <a:prstGeom prst="rect">
            <a:avLst/>
          </a:prstGeom>
          <a:solidFill>
            <a:srgbClr val="0A15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22677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49224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이상값 자동 감지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27980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기대값과 비교해 ERROR / WARN 자동 분류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00800" y="3547872"/>
            <a:ext cx="2359152" cy="1188720"/>
          </a:xfrm>
          <a:prstGeom prst="rect">
            <a:avLst/>
          </a:prstGeom>
          <a:solidFill>
            <a:srgbClr val="0A15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36393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👥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492240" y="39319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없이 누구나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92240" y="41696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UI에서 바로 확인 — 할당 대기 없음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91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7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여정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29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 ↔ HW 협업 여정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3474720" cy="1143000"/>
          </a:xfrm>
          <a:prstGeom prst="rect">
            <a:avLst/>
          </a:prstGeom>
          <a:solidFill>
            <a:srgbClr val="0A1220"/>
          </a:solidFill>
          <a:ln w="10160">
            <a:solidFill>
              <a:srgbClr val="FFB800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05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🔧  HW 엔지니어의 역할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3200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문제 정의 — 어떤 레지스터가 중요한가?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기대값이어야 하는가? 디버깅 프로세스의 맥락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2240280"/>
            <a:ext cx="3474720" cy="1143000"/>
          </a:xfrm>
          <a:prstGeom prst="rect">
            <a:avLst/>
          </a:prstGeom>
          <a:solidFill>
            <a:srgbClr val="0A1220"/>
          </a:solidFill>
          <a:ln w="1016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331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💻  SW 담당자의 역할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624328"/>
            <a:ext cx="3200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구현 — HW 디버깅 도메인 지식 없이 시작.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도메인은 HW에게, 구현은 SW가 담당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3566160"/>
            <a:ext cx="3474720" cy="1143000"/>
          </a:xfrm>
          <a:prstGeom prst="rect">
            <a:avLst/>
          </a:prstGeom>
          <a:solidFill>
            <a:srgbClr val="0A1220"/>
          </a:solidFill>
          <a:ln w="10160">
            <a:solidFill>
              <a:srgbClr val="A070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657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7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🤝  핵심: 협업이 없었다면 불가능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3950208"/>
            <a:ext cx="3200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지식 없이 기술만으로는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올바른 자동화를 만들 수 없다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33088" y="914400"/>
            <a:ext cx="54864" cy="749808"/>
          </a:xfrm>
          <a:prstGeom prst="rect">
            <a:avLst/>
          </a:prstGeom>
          <a:solidFill>
            <a:srgbClr val="A070FF">
              <a:alpha val="33000"/>
            </a:srgbClr>
          </a:solidFill>
          <a:ln w="6350">
            <a:solidFill>
              <a:srgbClr val="A070FF">
                <a:alpha val="3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914400"/>
            <a:ext cx="4572000" cy="749808"/>
          </a:xfrm>
          <a:prstGeom prst="rect">
            <a:avLst/>
          </a:prstGeom>
          <a:solidFill>
            <a:srgbClr val="0C18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9875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81728" y="96926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A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디버깅 프로세스 도메인 이해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81728" y="12252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 담당자가 HW 디버깅 프로세스를 이해하는 데 예상보다 시간이 걸렸다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33088" y="1828800"/>
            <a:ext cx="54864" cy="749808"/>
          </a:xfrm>
          <a:prstGeom prst="rect">
            <a:avLst/>
          </a:prstGeom>
          <a:solidFill>
            <a:srgbClr val="A070FF">
              <a:alpha val="33000"/>
            </a:srgbClr>
          </a:solidFill>
          <a:ln w="6350">
            <a:solidFill>
              <a:srgbClr val="A070FF">
                <a:alpha val="3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1828800"/>
            <a:ext cx="4572000" cy="749808"/>
          </a:xfrm>
          <a:prstGeom prst="rect">
            <a:avLst/>
          </a:prstGeom>
          <a:solidFill>
            <a:srgbClr val="0C18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19019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81728" y="188366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A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데이터 정제 및 구조화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21396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축적된 데이터도 그대로 쓸 수 없었다. 정제와 구조화 작업 필요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33088" y="2743200"/>
            <a:ext cx="54864" cy="749808"/>
          </a:xfrm>
          <a:prstGeom prst="rect">
            <a:avLst/>
          </a:prstGeom>
          <a:solidFill>
            <a:srgbClr val="A070FF">
              <a:alpha val="33000"/>
            </a:srgbClr>
          </a:solidFill>
          <a:ln w="6350">
            <a:solidFill>
              <a:srgbClr val="A070FF">
                <a:alpha val="3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743200"/>
            <a:ext cx="4572000" cy="749808"/>
          </a:xfrm>
          <a:prstGeom prst="rect">
            <a:avLst/>
          </a:prstGeom>
          <a:solidFill>
            <a:srgbClr val="0C18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28163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81728" y="279806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A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엣지 케이스 처리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81728" y="30540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예외적인 레지스터 상태, 특수 케이스들을 처리하는 과정이 까다로웠다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749040"/>
            <a:ext cx="4572000" cy="868680"/>
          </a:xfrm>
          <a:prstGeom prst="rect">
            <a:avLst/>
          </a:prstGeom>
          <a:solidFill>
            <a:srgbClr val="0A15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81304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 기술적 단순함은 의도적 선택 — 복잡하지 않게 만든 것이 강점.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문제에 집중하기 위해 기술 복잡도를 의도적으로 낮게 유지했다.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91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여정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29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한계 + 진화 가능성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3657600" cy="3657600"/>
          </a:xfrm>
          <a:prstGeom prst="rect">
            <a:avLst/>
          </a:prstGeom>
          <a:solidFill>
            <a:srgbClr val="0A1220"/>
          </a:solidFill>
          <a:ln w="12700">
            <a:solidFill>
              <a:srgbClr val="00D4FF">
                <a:alpha val="33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24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618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파싱 / 분석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수준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020824"/>
            <a:ext cx="109728" cy="109728"/>
          </a:xfrm>
          <a:prstGeom prst="ellipse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파싱 자동화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496312"/>
            <a:ext cx="109728" cy="109728"/>
          </a:xfrm>
          <a:prstGeom prst="ellipse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14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기대값과 대조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971800"/>
            <a:ext cx="109728" cy="109728"/>
          </a:xfrm>
          <a:prstGeom prst="ellipse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169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이상값 자동 분류 및 표시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09728" cy="109728"/>
          </a:xfrm>
          <a:prstGeom prst="ellipse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924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UI로 누구나 확인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922776"/>
            <a:ext cx="109728" cy="109728"/>
          </a:xfrm>
          <a:prstGeom prst="ellipse">
            <a:avLst/>
          </a:prstGeom>
          <a:solidFill>
            <a:srgbClr val="1A3A5F"/>
          </a:solidFill>
          <a:ln w="6350">
            <a:solidFill>
              <a:srgbClr val="1A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67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단계 — 측정 데이터 축적 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2011680"/>
            <a:ext cx="0" cy="1371600"/>
          </a:xfrm>
          <a:prstGeom prst="line">
            <a:avLst/>
          </a:prstGeom>
          <a:noFill/>
          <a:ln w="1270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A5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A5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 ↑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5196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56048" y="914400"/>
            <a:ext cx="3803904" cy="3657600"/>
          </a:xfrm>
          <a:prstGeom prst="rect">
            <a:avLst/>
          </a:prstGeom>
          <a:solidFill>
            <a:srgbClr val="0A1A1A"/>
          </a:solidFill>
          <a:ln w="1524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024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02352" y="126187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진화된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38928" y="2020824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965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디버깅 패턴 학습 및 추론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38928" y="2496312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4414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원인 자동 추론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38928" y="2971800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9169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 과거 케이스 매칭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3447288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3924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리포트 자동 생성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38928" y="3922776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38679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지식이 쌓일수록 가능성 확대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 · 프레임워크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29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 팀에서도 찾을 수 있다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기회를 발굴하는 3가지 질문 — 지금 5분, 자기 팀에 적용해보세요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8138160" cy="1005840"/>
          </a:xfrm>
          <a:prstGeom prst="rect">
            <a:avLst/>
          </a:prstGeom>
          <a:solidFill>
            <a:srgbClr val="0A1525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508760"/>
            <a:ext cx="457200" cy="457200"/>
          </a:xfrm>
          <a:prstGeom prst="ellipse">
            <a:avLst/>
          </a:prstGeom>
          <a:solidFill>
            <a:srgbClr val="001A2A"/>
          </a:solidFill>
          <a:ln w="10160">
            <a:solidFill>
              <a:srgbClr val="006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3258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팀에 반복적으로 수행하는 전문가 작업이 있는가?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176479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시니어만 할 수 있고, 자주 반복되며, 시간이 많이 걸리는 작업을 찾는다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8138160" cy="1005840"/>
          </a:xfrm>
          <a:prstGeom prst="rect">
            <a:avLst/>
          </a:prstGeom>
          <a:solidFill>
            <a:srgbClr val="0A1525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697480"/>
            <a:ext cx="457200" cy="457200"/>
          </a:xfrm>
          <a:prstGeom prst="ellipse">
            <a:avLst/>
          </a:prstGeom>
          <a:solidFill>
            <a:srgbClr val="1A1000"/>
          </a:solidFill>
          <a:ln w="10160">
            <a:solidFill>
              <a:srgbClr val="886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5146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작업에 사용되는 데이터가 이미 어딘가에 구조화되어 있는가?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95351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DB, 파일, 시스템 어딘가에 이미 존재하는 데이터를 발굴한다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8138160" cy="1005840"/>
          </a:xfrm>
          <a:prstGeom prst="rect">
            <a:avLst/>
          </a:prstGeom>
          <a:solidFill>
            <a:srgbClr val="0A1525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886200"/>
            <a:ext cx="457200" cy="457200"/>
          </a:xfrm>
          <a:prstGeom prst="ellipse">
            <a:avLst/>
          </a:prstGeom>
          <a:solidFill>
            <a:srgbClr val="001A14"/>
          </a:solidFill>
          <a:ln w="10160">
            <a:solidFill>
              <a:srgbClr val="0066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70332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데이터를 연결하면 자동화할 수 있는가?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14223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연결 = 자동화 가능성. AI 없이도 단순한 도구로 시작할 수 있다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029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74980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
</a:t>
            </a:r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</a:t>
            </a:r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해요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54864" cy="1463040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1031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"자동화와 Agent를 더 발전시키고 싶은데,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Framework로 설계하면 좋을지 아직 고민 중입니다.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고민을 하고 계신 분이 있다면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후 함께 이야기 나눠보고 싶습니다."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74420" cy="301752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0480"/>
            <a:ext cx="10744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발굴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4228" y="3840480"/>
            <a:ext cx="1284732" cy="301752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4228" y="3840480"/>
            <a:ext cx="12847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자산화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18688" y="3840480"/>
            <a:ext cx="1284732" cy="301752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3840480"/>
            <a:ext cx="12847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자산 연결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3148" y="3840480"/>
            <a:ext cx="1600200" cy="301752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3148" y="384048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 ↔ HW 협업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23076" y="3840480"/>
            <a:ext cx="1179576" cy="301752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3076" y="3840480"/>
            <a:ext cx="1179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도구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640080"/>
            <a:ext cx="2377440" cy="2286000"/>
          </a:xfrm>
          <a:prstGeom prst="rect">
            <a:avLst/>
          </a:prstGeom>
          <a:solidFill>
            <a:srgbClr val="001818"/>
          </a:solidFill>
          <a:ln w="12700">
            <a:solidFill>
              <a:srgbClr val="00FFD1">
                <a:alpha val="33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777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🤝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492240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후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이야기해요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20116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Framework 설계,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기회 발굴,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경험이 있으신 분 환영합니다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3108960"/>
            <a:ext cx="2377440" cy="1097280"/>
          </a:xfrm>
          <a:prstGeom prst="rect">
            <a:avLst/>
          </a:prstGeom>
          <a:solidFill>
            <a:srgbClr val="0A122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218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8A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 설계팀의 Hardware Debugging Process 자동화 (plan2)</dc:title>
  <dc:subject>PptxGenJS Presentation</dc:subject>
  <dc:creator>PptxGenJS</dc:creator>
  <cp:lastModifiedBy>PptxGenJS</cp:lastModifiedBy>
  <cp:revision>1</cp:revision>
  <dcterms:created xsi:type="dcterms:W3CDTF">2026-05-30T14:01:14Z</dcterms:created>
  <dcterms:modified xsi:type="dcterms:W3CDTF">2026-05-30T14:01:14Z</dcterms:modified>
</cp:coreProperties>
</file>