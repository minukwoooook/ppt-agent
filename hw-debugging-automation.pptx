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14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7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00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43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6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9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2500" y="0"/>
            <a:ext cx="0" cy="5143500"/>
          </a:xfrm>
          <a:prstGeom prst="line">
            <a:avLst/>
          </a:prstGeom>
          <a:noFill/>
          <a:ln w="3810">
            <a:solidFill>
              <a:srgbClr val="00D4FF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84048"/>
            <a:ext cx="758952" cy="0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84048"/>
            <a:ext cx="0" cy="758952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27848" y="4754880"/>
            <a:ext cx="758952" cy="0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0" y="3995928"/>
            <a:ext cx="0" cy="758952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" y="822960"/>
            <a:ext cx="2468880" cy="256032"/>
          </a:xfrm>
          <a:prstGeom prst="rect">
            <a:avLst/>
          </a:prstGeom>
          <a:solidFill>
            <a:srgbClr val="0A1828"/>
          </a:solidFill>
          <a:ln w="635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822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자동화 활용 사례 공유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" y="118872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설계팀의
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Hardware Debugging
</a:t>
            </a:r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 자동화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58952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3년간의 데이터 자산이 만들어낸 자동화 — AI 없이도 가능했다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58952" y="3657600"/>
            <a:ext cx="32004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3794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8952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 설계팀 SW 담당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3794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DURATION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17520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46320" y="3794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A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6320" y="3977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70048" cy="5143500"/>
          </a:xfrm>
          <a:prstGeom prst="rect">
            <a:avLst/>
          </a:prstGeom>
          <a:solidFill>
            <a:srgbClr val="0D1A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822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TODAY'S STORY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" y="10515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이야기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2057400"/>
            <a:ext cx="384048" cy="27432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1488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발굴부터 솔루션까지,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당신 팀에서의 적용까지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80360" y="411480"/>
            <a:ext cx="5943600" cy="914400"/>
          </a:xfrm>
          <a:prstGeom prst="rect">
            <a:avLst/>
          </a:prstGeom>
          <a:solidFill>
            <a:srgbClr val="0A1830"/>
          </a:solidFill>
          <a:ln w="6350">
            <a:solidFill>
              <a:srgbClr val="1A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4952" y="640080"/>
            <a:ext cx="411480" cy="411480"/>
          </a:xfrm>
          <a:prstGeom prst="ellipse">
            <a:avLst/>
          </a:prstGeom>
          <a:solidFill>
            <a:srgbClr val="112233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640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52120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문제: HW 디버깅 병목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8503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칩이 나왔다. 버그가 있다. 수동 분석의 현실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508760"/>
            <a:ext cx="5943600" cy="914400"/>
          </a:xfrm>
          <a:prstGeom prst="rect">
            <a:avLst/>
          </a:prstGeom>
          <a:solidFill>
            <a:srgbClr val="0A12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4952" y="1737360"/>
            <a:ext cx="411480" cy="41148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1618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3년의 사전 준비: 데이터 자산화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194767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이전에 쌓아온 인프라의 가치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606040"/>
            <a:ext cx="5943600" cy="914400"/>
          </a:xfrm>
          <a:prstGeom prst="rect">
            <a:avLst/>
          </a:prstGeom>
          <a:solidFill>
            <a:srgbClr val="0A12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44952" y="2834640"/>
            <a:ext cx="411480" cy="41148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4952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27157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솔루션: 무엇을 만들었나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0449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+ 라이브 데모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3703320"/>
            <a:ext cx="5943600" cy="914400"/>
          </a:xfrm>
          <a:prstGeom prst="rect">
            <a:avLst/>
          </a:prstGeom>
          <a:solidFill>
            <a:srgbClr val="0A12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4952" y="3931920"/>
            <a:ext cx="411480" cy="41148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4952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38130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프레임워크: 당신 팀에서도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414223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기회를 발굴하는 3가지 질문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문제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디버깅이란 무엇인가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30352" y="914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칩이 처음 나왔다. 6개월, 수백억 원.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버그가 있다. 어디서, 왜 발생했는지 찾아야 한다.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1188720" cy="777240"/>
          </a:xfrm>
          <a:prstGeom prst="rect">
            <a:avLst/>
          </a:prstGeom>
          <a:solidFill>
            <a:srgbClr val="0A1F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발생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Silicon 동작 이상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554480"/>
            <a:ext cx="1188720" cy="777240"/>
          </a:xfrm>
          <a:prstGeom prst="rect">
            <a:avLst/>
          </a:prstGeom>
          <a:solidFill>
            <a:srgbClr val="0A1F3A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Scandump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774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 상태 덤프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118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554480"/>
            <a:ext cx="1188720" cy="777240"/>
          </a:xfrm>
          <a:prstGeom prst="rect">
            <a:avLst/>
          </a:prstGeom>
          <a:solidFill>
            <a:srgbClr val="0F1A3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776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생성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MB 레지스터 파일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2120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1554480"/>
            <a:ext cx="1188720" cy="777240"/>
          </a:xfrm>
          <a:prstGeom prst="rect">
            <a:avLst/>
          </a:prstGeom>
          <a:solidFill>
            <a:srgbClr val="1C0A24"/>
          </a:solidFill>
          <a:ln w="10160">
            <a:solidFill>
              <a:srgbClr val="4A1A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분석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전문가가 직접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943100"/>
            <a:ext cx="320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8333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1554480"/>
            <a:ext cx="1188720" cy="777240"/>
          </a:xfrm>
          <a:prstGeom prst="rect">
            <a:avLst/>
          </a:prstGeom>
          <a:solidFill>
            <a:srgbClr val="0A2418"/>
          </a:solidFill>
          <a:ln w="10160">
            <a:solidFill>
              <a:srgbClr val="1A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627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20299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 파악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완료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" y="2788920"/>
            <a:ext cx="8083296" cy="594360"/>
          </a:xfrm>
          <a:prstGeom prst="rect">
            <a:avLst/>
          </a:prstGeom>
          <a:solidFill>
            <a:srgbClr val="FF4A4A">
              <a:alpha val="6000"/>
            </a:srgbClr>
          </a:solidFill>
          <a:ln w="6350">
            <a:solidFill>
              <a:srgbClr val="FF4A4A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2807208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 수 MB의 Regbank 파일을 엔지니어가 직접, 수작업으로 분석해야 한다.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0A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이 작업은 반복되고, 시간이 많이 걸리며, 전문가 의존적이다.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· 문제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분석의 현실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" y="896112"/>
            <a:ext cx="54864" cy="777240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96112"/>
            <a:ext cx="3566160" cy="777240"/>
          </a:xfrm>
          <a:prstGeom prst="rect">
            <a:avLst/>
          </a:prstGeom>
          <a:solidFill>
            <a:srgbClr val="0C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9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95097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방대한 데이터 규모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19786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디버그 세션 1회당 수 MB의 Regbank 파일.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수천~수만 개의 레지스터 항목을 수작업 검토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856232"/>
            <a:ext cx="54864" cy="777240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56232"/>
            <a:ext cx="3566160" cy="777240"/>
          </a:xfrm>
          <a:prstGeom prst="rect">
            <a:avLst/>
          </a:prstGeom>
          <a:solidFill>
            <a:srgbClr val="0C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91109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높은 시간 비용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15798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버그 1건 분석에 상당한 공수 소요.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칩 테이프아웃 일정에 직접적 영향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816352"/>
            <a:ext cx="54864" cy="777240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16352"/>
            <a:ext cx="3566160" cy="777240"/>
          </a:xfrm>
          <a:prstGeom prst="rect">
            <a:avLst/>
          </a:prstGeom>
          <a:solidFill>
            <a:srgbClr val="0C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👤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8712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의존도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11810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지식 + 디버깅 경험 보유 시니어만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가능. 병목 발생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4048" y="3776472"/>
            <a:ext cx="54864" cy="777240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76472"/>
            <a:ext cx="3566160" cy="777240"/>
          </a:xfrm>
          <a:prstGeom prst="rect">
            <a:avLst/>
          </a:prstGeom>
          <a:solidFill>
            <a:srgbClr val="0C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831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4B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4078224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칩마다, 버그마다 같은 프로세스 반복.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학습되지 않는 고통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914400"/>
            <a:ext cx="4187952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960120"/>
            <a:ext cx="41879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MB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4572000" y="1572768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디버그 세션 1회당 Regbank 파일 크기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103120"/>
            <a:ext cx="4187952" cy="91440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148840"/>
            <a:ext cx="4187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8C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100%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4572000" y="2670048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작업 의존율 — 자동화 없음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200400"/>
            <a:ext cx="4187952" cy="914400"/>
          </a:xfrm>
          <a:prstGeom prst="rect">
            <a:avLst/>
          </a:prstGeom>
          <a:solidFill>
            <a:srgbClr val="1A0C0C"/>
          </a:solidFill>
          <a:ln w="10160">
            <a:solidFill>
              <a:srgbClr val="5F1E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273552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0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🚨  전문가 없이는 분석 불가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0" y="3566160"/>
            <a:ext cx="41879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A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지식이 없으면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A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파일을 열어도 해석할 수 없다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"/>
            <a:ext cx="9144000" cy="722376"/>
          </a:xfrm>
          <a:prstGeom prst="rect">
            <a:avLst/>
          </a:prstGeom>
          <a:solidFill>
            <a:srgbClr val="1A130A"/>
          </a:solidFill>
          <a:ln w="6350">
            <a:solidFill>
              <a:srgbClr val="3A2A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91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자산화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3년의 준비: Spec 데이터 자산화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30352" y="89611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시스템은 갑자기 나온 것이 아니다.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전부터 설계팀 Spec 데이터를 DB로 자산화하는 작업을 꾸준히 진행해왔다.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1554480"/>
            <a:ext cx="0" cy="3017520"/>
          </a:xfrm>
          <a:prstGeom prst="line">
            <a:avLst/>
          </a:prstGeom>
          <a:noFill/>
          <a:ln w="15240">
            <a:solidFill>
              <a:srgbClr val="FFB8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536192"/>
            <a:ext cx="155448" cy="15544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0509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4996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84832" y="14996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데이터 DB 구축 시작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84832" y="170078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문서의 구조화. 당시 명확한 활용처는 불분명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8096" y="2286000"/>
            <a:ext cx="155448" cy="15544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0509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494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꾸준히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84832" y="22494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지속 축적 &amp; 정제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명세, 필드 정의, 기대값 등 체계화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8096" y="3035808"/>
            <a:ext cx="155448" cy="15544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050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9992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29992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가능성 발견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파일과 Spec DB를 연결하면?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8096" y="3785616"/>
            <a:ext cx="155448" cy="155448"/>
          </a:xfrm>
          <a:prstGeom prst="ellipse">
            <a:avLst/>
          </a:prstGeom>
          <a:solidFill>
            <a:srgbClr val="FFB800"/>
          </a:solidFill>
          <a:ln w="12700">
            <a:solidFill>
              <a:srgbClr val="0509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7490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84832" y="3749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C0A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시스템 구현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39502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3년간의 자산이 자동화의 토대가 되다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914400"/>
            <a:ext cx="3657600" cy="1417320"/>
          </a:xfrm>
          <a:prstGeom prst="rect">
            <a:avLst/>
          </a:prstGeom>
          <a:solidFill>
            <a:srgbClr val="1A1200"/>
          </a:solidFill>
          <a:ln w="10160">
            <a:solidFill>
              <a:srgbClr val="FFB800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005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핵심 인사이트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129844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A8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없으면 자동화도 없다.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0A8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당장 활용처가 없어 보이는 데이터 수집이, 미래의 자동화 가능성을 결정한다.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468880"/>
            <a:ext cx="3657600" cy="1097280"/>
          </a:xfrm>
          <a:prstGeom prst="rect">
            <a:avLst/>
          </a:prstGeom>
          <a:solidFill>
            <a:srgbClr val="0A0F1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257860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DB 자산 현황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57800" y="28163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3년+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257800" y="32004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축적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28232" y="28163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구조화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28232" y="32004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98664" y="281635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598664" y="32004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대응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20640" y="3703320"/>
            <a:ext cx="3657600" cy="1005840"/>
          </a:xfrm>
          <a:prstGeom prst="rect">
            <a:avLst/>
          </a:prstGeom>
          <a:solidFill>
            <a:srgbClr val="0A122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57800" y="382219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팀은 Regbank를 항상 생성하고 있었다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두 자산을 연결하는 것이 이번 시스템의 핵심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/ 자동화의 전제조건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777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자동화에 꼭 </a:t>
            </a:r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AI/ML이
</a:t>
            </a:r>
            <a:pPr algn="ctr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필요하지 않다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2331720"/>
            <a:ext cx="1371600" cy="685800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331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데이터 자산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06040" y="23317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2331720"/>
            <a:ext cx="1188720" cy="685800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이해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43400" y="23317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2331720"/>
            <a:ext cx="1188720" cy="685800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A8C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도구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23317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2331720"/>
            <a:ext cx="1554480" cy="685800"/>
          </a:xfrm>
          <a:prstGeom prst="rect">
            <a:avLst/>
          </a:prstGeom>
          <a:solidFill>
            <a:srgbClr val="002233"/>
          </a:solidFill>
          <a:ln w="6350">
            <a:solidFill>
              <a:srgbClr val="0066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 제거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solidFill>
            <a:srgbClr val="1A0A0A"/>
          </a:solidFill>
          <a:ln w="6350">
            <a:solidFill>
              <a:srgbClr val="3A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⚠️  데이터가 없으면 LLM도, 파싱도, 어떤 자동화도 할 수 없다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023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자산화 → 자동화 가능성의 전제조건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· 자산화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자산의 연결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103120" cy="2286000"/>
          </a:xfrm>
          <a:prstGeom prst="rect">
            <a:avLst/>
          </a:prstGeom>
          <a:solidFill>
            <a:srgbClr val="0A1525"/>
          </a:solidFill>
          <a:ln w="1270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🗄️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3년간 자산화된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 데이터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기대값, 필드 정의 포함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2377440"/>
            <a:ext cx="548640" cy="0"/>
          </a:xfrm>
          <a:prstGeom prst="line">
            <a:avLst/>
          </a:prstGeom>
          <a:noFill/>
          <a:ln w="19050">
            <a:solidFill>
              <a:srgbClr val="FFB80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86200" y="2377440"/>
            <a:ext cx="548640" cy="0"/>
          </a:xfrm>
          <a:prstGeom prst="line">
            <a:avLst/>
          </a:prstGeom>
          <a:noFill/>
          <a:ln w="1905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234440"/>
            <a:ext cx="2103120" cy="2286000"/>
          </a:xfrm>
          <a:prstGeom prst="rect">
            <a:avLst/>
          </a:prstGeom>
          <a:solidFill>
            <a:srgbClr val="0A1525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462272" y="2075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07992" y="242316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디버그 세션마다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팀이 항상 생성하는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레지스터 덤프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01968" y="2377440"/>
            <a:ext cx="274320" cy="0"/>
          </a:xfrm>
          <a:prstGeom prst="line">
            <a:avLst/>
          </a:prstGeom>
          <a:noFill/>
          <a:ln w="19050">
            <a:solidFill>
              <a:srgbClr val="00FFD1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2240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1234440"/>
            <a:ext cx="1645920" cy="2286000"/>
          </a:xfrm>
          <a:prstGeom prst="rect">
            <a:avLst/>
          </a:prstGeom>
          <a:solidFill>
            <a:srgbClr val="001A1A"/>
          </a:solidFill>
          <a:ln w="1905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554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132320" y="2103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가능성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269748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자산을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연결하면 수동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분석을 자동화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있다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팀은 Regbank를  항상 생성하고 있었다  —  연결만 하면 됐다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91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3 · 솔루션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" y="32918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아키텍처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914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9144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92240" y="9144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OUTPUT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161288"/>
            <a:ext cx="2286000" cy="868680"/>
          </a:xfrm>
          <a:prstGeom prst="rect">
            <a:avLst/>
          </a:prstGeom>
          <a:solidFill>
            <a:srgbClr val="0A1525"/>
          </a:solidFill>
          <a:ln w="1016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2070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🗄️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122529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14630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명세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기대값 / 필드 정의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2286000" cy="868680"/>
          </a:xfrm>
          <a:prstGeom prst="rect">
            <a:avLst/>
          </a:prstGeom>
          <a:solidFill>
            <a:srgbClr val="0A1525"/>
          </a:solidFill>
          <a:ln w="1016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194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22128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4505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덤프 데이터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MB 규모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79776" y="2103120"/>
            <a:ext cx="658368" cy="0"/>
          </a:xfrm>
          <a:prstGeom prst="line">
            <a:avLst/>
          </a:prstGeom>
          <a:noFill/>
          <a:ln w="190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19385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0" y="1161288"/>
            <a:ext cx="2286000" cy="1920240"/>
          </a:xfrm>
          <a:prstGeom prst="rect">
            <a:avLst/>
          </a:prstGeom>
          <a:solidFill>
            <a:srgbClr val="0A1F3A"/>
          </a:solidFill>
          <a:ln w="1905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⚙️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0440" y="1783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/ 분석 엔진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208483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파싱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Spec과 대조 분석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/ 정상값 분류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797296" y="2103120"/>
            <a:ext cx="658368" cy="0"/>
          </a:xfrm>
          <a:prstGeom prst="line">
            <a:avLst/>
          </a:prstGeom>
          <a:noFill/>
          <a:ln w="19050">
            <a:solidFill>
              <a:srgbClr val="00FFD1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93852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92240" y="1161288"/>
            <a:ext cx="2194560" cy="1920240"/>
          </a:xfrm>
          <a:prstGeom prst="rect">
            <a:avLst/>
          </a:prstGeom>
          <a:solidFill>
            <a:srgbClr val="0A2A1A"/>
          </a:solidFill>
          <a:ln w="1905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12801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🖥️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537960" y="1783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37960" y="208483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시각화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레지스터 상태 표시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하이라이트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복잡도는 최소화 — 결과물의 가치에 집중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594360"/>
            <a:ext cx="2743200" cy="347472"/>
          </a:xfrm>
          <a:prstGeom prst="rect">
            <a:avLst/>
          </a:prstGeom>
          <a:solidFill>
            <a:srgbClr val="00FFD1">
              <a:alpha val="9000"/>
            </a:srgbClr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01568" y="704088"/>
            <a:ext cx="137160" cy="137160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84448" y="594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보여드리겠습니다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  →  분석 엔진  →  Web UI 결과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184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과정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496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 결과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48716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4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98080" y="2487168"/>
            <a:ext cx="457200" cy="457200"/>
          </a:xfrm>
          <a:prstGeom prst="ellipse">
            <a:avLst/>
          </a:prstGeom>
          <a:solidFill>
            <a:srgbClr val="0A1828"/>
          </a:solidFill>
          <a:ln w="1016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30358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대비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비교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164592"/>
            <a:ext cx="960120" cy="347472"/>
          </a:xfrm>
          <a:prstGeom prst="rect">
            <a:avLst/>
          </a:prstGeom>
          <a:solidFill>
            <a:srgbClr val="00FFD1">
              <a:alpha val="9000"/>
            </a:srgbClr>
          </a:solidFill>
          <a:ln w="6350">
            <a:solidFill>
              <a:srgbClr val="00FFD1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5488" y="274320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73736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결과 하이라이트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4048" y="804672"/>
            <a:ext cx="5760720" cy="4069080"/>
          </a:xfrm>
          <a:prstGeom prst="rect">
            <a:avLst/>
          </a:prstGeom>
          <a:solidFill>
            <a:srgbClr val="0A122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04672"/>
            <a:ext cx="5760720" cy="347472"/>
          </a:xfrm>
          <a:prstGeom prst="rect">
            <a:avLst/>
          </a:prstGeom>
          <a:solidFill>
            <a:srgbClr val="0D1A30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905256"/>
            <a:ext cx="128016" cy="128016"/>
          </a:xfrm>
          <a:prstGeom prst="ellipse">
            <a:avLst/>
          </a:prstGeom>
          <a:solidFill>
            <a:srgbClr val="FF5F56"/>
          </a:solidFill>
          <a:ln w="635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905256"/>
            <a:ext cx="128016" cy="128016"/>
          </a:xfrm>
          <a:prstGeom prst="ellipse">
            <a:avLst/>
          </a:prstGeom>
          <a:solidFill>
            <a:srgbClr val="FEBC2E"/>
          </a:solidFill>
          <a:ln w="635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6968" y="905256"/>
            <a:ext cx="128016" cy="128016"/>
          </a:xfrm>
          <a:prstGeom prst="ellipse">
            <a:avLst/>
          </a:prstGeom>
          <a:solidFill>
            <a:srgbClr val="28C840"/>
          </a:solidFill>
          <a:ln w="635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85953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HW Debugging Analysis — Regbank Viewer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1280160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280160"/>
            <a:ext cx="50292" cy="566928"/>
          </a:xfrm>
          <a:prstGeom prst="rect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353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SYS_CTRL_REG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157276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0x0000_0001  →  Expected: 0x0000_0001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38928" y="1426464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42646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" y="1947672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1947672"/>
            <a:ext cx="50292" cy="566928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208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PWR_STATE_REG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224028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0x0000_00FF  →  Expected: 0x0000_0000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38928" y="2093976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0939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" y="2615184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615184"/>
            <a:ext cx="50292" cy="566928"/>
          </a:xfrm>
          <a:prstGeom prst="rect">
            <a:avLst/>
          </a:prstGeom>
          <a:solidFill>
            <a:srgbClr val="FFB800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883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CLK_DOMAIN_REG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29077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0x0000_0003  →  Expected: 0x0000_0001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38928" y="2761488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38928" y="27614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" y="3282696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282696"/>
            <a:ext cx="50292" cy="566928"/>
          </a:xfrm>
          <a:prstGeom prst="rect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558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INT_STATUS_REG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35753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0x0000_0000  →  Expected: 0x0000_0000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38928" y="3429000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3429000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NORMAL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" y="3950208"/>
            <a:ext cx="5577840" cy="566928"/>
          </a:xfrm>
          <a:prstGeom prst="rect">
            <a:avLst/>
          </a:prstGeom>
          <a:solidFill>
            <a:srgbClr val="0D1A2A"/>
          </a:solidFill>
          <a:ln w="3810">
            <a:solidFill>
              <a:srgbClr val="1A2E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" y="3950208"/>
            <a:ext cx="50292" cy="566928"/>
          </a:xfrm>
          <a:prstGeom prst="rect">
            <a:avLst/>
          </a:prstGeom>
          <a:solidFill>
            <a:srgbClr val="FF4A4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23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MEM_CTRL_REG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0080" y="424281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0x0000_DEAD  →  Expected: 0x0000_0001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38928" y="4096512"/>
            <a:ext cx="804672" cy="256032"/>
          </a:xfrm>
          <a:prstGeom prst="rect">
            <a:avLst/>
          </a:prstGeom>
          <a:solidFill>
            <a:srgbClr val="0D1A2A"/>
          </a:solidFill>
          <a:ln w="6350">
            <a:solidFill>
              <a:srgbClr val="FF4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409651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0" y="804672"/>
            <a:ext cx="2359152" cy="118872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896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492240" y="11887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즉각적 결과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14264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 즉시 분석 완료. 수동 검토 없음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2176272"/>
            <a:ext cx="2359152" cy="118872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2677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492240" y="25603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자동 감지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27980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기대값과 비교해 ERROR / WARN 자동 분류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0" y="3547872"/>
            <a:ext cx="2359152" cy="118872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92240" y="36393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📊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492240" y="39319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레지스터 커버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92240" y="41696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 MB 파일 전체를 빠짐없이 분석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A07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여정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↔ HW 협업 여정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3474720" cy="1143000"/>
          </a:xfrm>
          <a:prstGeom prst="rect">
            <a:avLst/>
          </a:prstGeom>
          <a:solidFill>
            <a:srgbClr val="0A1220"/>
          </a:solidFill>
          <a:ln w="10160">
            <a:solidFill>
              <a:srgbClr val="FFB800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🔧  HW 엔지니어의 역할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200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문제 정의 — 어떤 레지스터가 중요한가?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기대값이어야 하는가? 디버깅 프로세스의 맥락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2240280"/>
            <a:ext cx="3474720" cy="1143000"/>
          </a:xfrm>
          <a:prstGeom prst="rect">
            <a:avLst/>
          </a:prstGeom>
          <a:solidFill>
            <a:srgbClr val="0A1220"/>
          </a:solidFill>
          <a:ln w="1016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331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💻  SW 담당자의 역할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624328"/>
            <a:ext cx="3200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구현 — HW 디버깅 도메인 지식 없이 시작.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도메인은 HW에게, 구현은 SW가 담당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3566160"/>
            <a:ext cx="3474720" cy="1143000"/>
          </a:xfrm>
          <a:prstGeom prst="rect">
            <a:avLst/>
          </a:prstGeom>
          <a:solidFill>
            <a:srgbClr val="0A1220"/>
          </a:solidFill>
          <a:ln w="10160">
            <a:solidFill>
              <a:srgbClr val="A070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6576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70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🤝  핵심: 협업이 없었다면 불가능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950208"/>
            <a:ext cx="32004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지식 없이 기술만으로는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올바른 자동화를 만들 수 없다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33088" y="914400"/>
            <a:ext cx="54864" cy="749808"/>
          </a:xfrm>
          <a:prstGeom prst="rect">
            <a:avLst/>
          </a:prstGeom>
          <a:solidFill>
            <a:srgbClr val="A070FF">
              <a:alpha val="33000"/>
            </a:srgbClr>
          </a:solidFill>
          <a:ln w="6350">
            <a:solidFill>
              <a:srgbClr val="A070FF">
                <a:alpha val="3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914400"/>
            <a:ext cx="4572000" cy="749808"/>
          </a:xfrm>
          <a:prstGeom prst="rect">
            <a:avLst/>
          </a:prstGeom>
          <a:solidFill>
            <a:srgbClr val="0C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9875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81728" y="9692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A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프로세스 도메인 이해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12252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담당자가 HW 디버깅 프로세스를 이해하는 데 예상보다 시간이 걸렸다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33088" y="1828800"/>
            <a:ext cx="54864" cy="749808"/>
          </a:xfrm>
          <a:prstGeom prst="rect">
            <a:avLst/>
          </a:prstGeom>
          <a:solidFill>
            <a:srgbClr val="A070FF">
              <a:alpha val="33000"/>
            </a:srgbClr>
          </a:solidFill>
          <a:ln w="6350">
            <a:solidFill>
              <a:srgbClr val="A070FF">
                <a:alpha val="3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828800"/>
            <a:ext cx="4572000" cy="749808"/>
          </a:xfrm>
          <a:prstGeom prst="rect">
            <a:avLst/>
          </a:prstGeom>
          <a:solidFill>
            <a:srgbClr val="0C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19019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81728" y="18836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A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데이터 정제 및 구조화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81728" y="21396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3년간 쌓인 데이터도 그대로 쓸 수 없었다. 정제와 구조화 작업 필요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33088" y="2743200"/>
            <a:ext cx="54864" cy="749808"/>
          </a:xfrm>
          <a:prstGeom prst="rect">
            <a:avLst/>
          </a:prstGeom>
          <a:solidFill>
            <a:srgbClr val="A070FF">
              <a:alpha val="33000"/>
            </a:srgbClr>
          </a:solidFill>
          <a:ln w="6350">
            <a:solidFill>
              <a:srgbClr val="A070FF">
                <a:alpha val="3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743200"/>
            <a:ext cx="4572000" cy="749808"/>
          </a:xfrm>
          <a:prstGeom prst="rect">
            <a:avLst/>
          </a:prstGeom>
          <a:solidFill>
            <a:srgbClr val="0C1828"/>
          </a:solidFill>
          <a:ln w="508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15968" y="281635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81728" y="27980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A8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엣지 케이스 처리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81728" y="305409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예외적인 레지스터 상태, 특수 케이스들을 처리하는 과정이 까다로웠다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3749040"/>
            <a:ext cx="4572000" cy="868680"/>
          </a:xfrm>
          <a:prstGeom prst="rect">
            <a:avLst/>
          </a:prstGeom>
          <a:solidFill>
            <a:srgbClr val="0A152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381304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 기술적 단순함은 의도적 선택 — 복잡하지 않게 만든 것이 강점.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A6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문제에 집중하기 위해 기술 복잡도를 의도적으로 낮게 유지했다.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91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4 · 여정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30352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한계 + 진화 가능성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4048" y="914400"/>
            <a:ext cx="3657600" cy="3657600"/>
          </a:xfrm>
          <a:prstGeom prst="rect">
            <a:avLst/>
          </a:prstGeom>
          <a:solidFill>
            <a:srgbClr val="0A1220"/>
          </a:solidFill>
          <a:ln w="12700">
            <a:solidFill>
              <a:srgbClr val="00D4FF">
                <a:alpha val="3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2412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126187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파싱 / 분석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수준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020824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Regbank 파싱 자동화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496312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Spec 기대값과 대조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2971800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9169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이상값 자동 분류 및 표시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09728" cy="109728"/>
          </a:xfrm>
          <a:prstGeom prst="ellipse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3924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UI로 결과 제공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22776"/>
            <a:ext cx="109728" cy="109728"/>
          </a:xfrm>
          <a:prstGeom prst="ellipse">
            <a:avLst/>
          </a:prstGeom>
          <a:solidFill>
            <a:srgbClr val="1A3A5F"/>
          </a:solidFill>
          <a:ln w="6350">
            <a:solidFill>
              <a:srgbClr val="1A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679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4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 단계 — 측정 데이터 축적 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2011680"/>
            <a:ext cx="0" cy="1371600"/>
          </a:xfrm>
          <a:prstGeom prst="line">
            <a:avLst/>
          </a:prstGeom>
          <a:noFill/>
          <a:ln w="1270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A5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A5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이해 ↑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5196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56048" y="914400"/>
            <a:ext cx="3803904" cy="3657600"/>
          </a:xfrm>
          <a:prstGeom prst="rect">
            <a:avLst/>
          </a:prstGeom>
          <a:solidFill>
            <a:srgbClr val="0A1A1A"/>
          </a:solidFill>
          <a:ln w="15240">
            <a:solidFill>
              <a:srgbClr val="00FFD1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0241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02352" y="126187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진화된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38928" y="2020824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9659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디버깅 패턴 학습 및 추론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38928" y="2496312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4414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원인 자동 추론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38928" y="2971800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916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 과거 케이스 매칭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38928" y="3447288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39242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리포트 자동 생성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38928" y="3922776"/>
            <a:ext cx="109728" cy="109728"/>
          </a:xfrm>
          <a:prstGeom prst="ellipse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867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 지식이 쌓일수록 가능성 확대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758952"/>
          </a:xfrm>
          <a:prstGeom prst="rect">
            <a:avLst/>
          </a:prstGeom>
          <a:solidFill>
            <a:srgbClr val="0D1B3A"/>
          </a:solidFill>
          <a:ln w="6350">
            <a:solidFill>
              <a:srgbClr val="1A2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5 · 프레임워크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329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당신 팀에서도 찾을 수 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기회를 발굴하는 3가지 질문 — 지금 5분, 자기 팀에 적용해보세요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8138160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508760"/>
            <a:ext cx="457200" cy="457200"/>
          </a:xfrm>
          <a:prstGeom prst="ellipse">
            <a:avLst/>
          </a:prstGeom>
          <a:solidFill>
            <a:srgbClr val="001A2A"/>
          </a:solidFill>
          <a:ln w="10160">
            <a:solidFill>
              <a:srgbClr val="0066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32588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팀에 반복적으로 수행하는 전문가 작업이 있는가?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76479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시니어만 할 수 있고, 자주 반복되며, 시간이 많이 걸리는 작업을 찾는다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8138160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697480"/>
            <a:ext cx="457200" cy="457200"/>
          </a:xfrm>
          <a:prstGeom prst="ellipse">
            <a:avLst/>
          </a:prstGeom>
          <a:solidFill>
            <a:srgbClr val="1A1000"/>
          </a:solidFill>
          <a:ln w="10160">
            <a:solidFill>
              <a:srgbClr val="88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51460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작업에 사용되는 데이터가 이미 어딘가에 구조화되어 있는가?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95351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DB, 파일, 시스템 어딘가에 이미 존재하는 데이터를 발굴한다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8138160" cy="1005840"/>
          </a:xfrm>
          <a:prstGeom prst="rect">
            <a:avLst/>
          </a:prstGeom>
          <a:solidFill>
            <a:srgbClr val="0A1525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886200"/>
            <a:ext cx="457200" cy="457200"/>
          </a:xfrm>
          <a:prstGeom prst="ellipse">
            <a:avLst/>
          </a:prstGeom>
          <a:solidFill>
            <a:srgbClr val="001A14"/>
          </a:solidFill>
          <a:ln w="10160">
            <a:solidFill>
              <a:srgbClr val="0066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EAF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데이터를 연결하면 자동화할 수 있는가?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142232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연결 = 자동화 가능성. AI 없이도 단순한 도구로 시작할 수 있다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857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0005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4FF">
                <a:alpha val="9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FFD1"/>
          </a:solidFill>
          <a:ln w="6350">
            <a:solidFill>
              <a:srgbClr val="00FF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029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CLOSING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749808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
</a:t>
            </a:r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0D4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</a:t>
            </a:r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해요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640080" y="2103120"/>
            <a:ext cx="54864" cy="1463040"/>
          </a:xfrm>
          <a:prstGeom prst="rect">
            <a:avLst/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1031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"자동화와 Agent를 더 발전시키고 싶은데,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Framework로 설계하면 좋을지 아직 고민 중입니다.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고민을 하고 계신 분이 있다면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A7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 함께 이야기 나눠보고 싶습니다."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74420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40480"/>
            <a:ext cx="10744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발굴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4228" y="3840480"/>
            <a:ext cx="1495044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4228" y="3840480"/>
            <a:ext cx="14950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데이터 자산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3840480"/>
            <a:ext cx="1284732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840480"/>
            <a:ext cx="12847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자산 연결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23460" y="3840480"/>
            <a:ext cx="1600200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3460" y="38404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 ↔ HW 협업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3388" y="3840480"/>
            <a:ext cx="1179576" cy="301752"/>
          </a:xfrm>
          <a:prstGeom prst="rect">
            <a:avLst/>
          </a:prstGeom>
          <a:solidFill>
            <a:srgbClr val="0A18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3388" y="3840480"/>
            <a:ext cx="1179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단순한 도구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640080"/>
            <a:ext cx="2377440" cy="2286000"/>
          </a:xfrm>
          <a:prstGeom prst="rect">
            <a:avLst/>
          </a:prstGeom>
          <a:solidFill>
            <a:srgbClr val="001818"/>
          </a:solidFill>
          <a:ln w="12700">
            <a:solidFill>
              <a:srgbClr val="00FFD1">
                <a:alpha val="33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777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🤝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92240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후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FF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이야기해요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20116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 Framework 설계,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기회 발굴,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A7A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경험이 있으신 분 환영합니다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3108960"/>
            <a:ext cx="2377440" cy="1097280"/>
          </a:xfrm>
          <a:prstGeom prst="rect">
            <a:avLst/>
          </a:prstGeom>
          <a:solidFill>
            <a:srgbClr val="0A1220"/>
          </a:solidFill>
          <a:ln w="1016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8A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 설계팀의 Hardware Debugging Process 자동화</dc:title>
  <dc:subject>PptxGenJS Presentation</dc:subject>
  <dc:creator>PptxGenJS</dc:creator>
  <cp:lastModifiedBy>PptxGenJS</cp:lastModifiedBy>
  <cp:revision>1</cp:revision>
  <dcterms:created xsi:type="dcterms:W3CDTF">2026-05-30T11:59:19Z</dcterms:created>
  <dcterms:modified xsi:type="dcterms:W3CDTF">2026-05-30T11:59:19Z</dcterms:modified>
</cp:coreProperties>
</file>